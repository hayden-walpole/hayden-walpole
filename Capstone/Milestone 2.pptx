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7"/>
  </p:notesMasterIdLst>
  <p:sldIdLst>
    <p:sldId id="460" r:id="rId2"/>
    <p:sldId id="477" r:id="rId3"/>
    <p:sldId id="457" r:id="rId4"/>
    <p:sldId id="476" r:id="rId5"/>
    <p:sldId id="466" r:id="rId6"/>
    <p:sldId id="470" r:id="rId7"/>
    <p:sldId id="467" r:id="rId8"/>
    <p:sldId id="471" r:id="rId9"/>
    <p:sldId id="478" r:id="rId10"/>
    <p:sldId id="479" r:id="rId11"/>
    <p:sldId id="464" r:id="rId12"/>
    <p:sldId id="462" r:id="rId13"/>
    <p:sldId id="474" r:id="rId14"/>
    <p:sldId id="468" r:id="rId15"/>
    <p:sldId id="473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39103EA-7370-B339-8A66-982EBD9B0878}" name="Hayden Walpole" initials="HW" userId="c44766656707637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66FF99"/>
    <a:srgbClr val="00CC00"/>
    <a:srgbClr val="669900"/>
    <a:srgbClr val="0000FF"/>
    <a:srgbClr val="FFFFFF"/>
    <a:srgbClr val="CC6600"/>
    <a:srgbClr val="B8B8B8"/>
    <a:srgbClr val="9D0000"/>
    <a:srgbClr val="95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308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fld id="{0EE26C0C-D63D-45AF-A471-A3D6BD5561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ＭＳ Ｐゴシック" pitchFamily="-123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204B1A-73D0-4DB5-9D5A-907DF0676C32}" type="slidenum">
              <a:rPr lang="en-US" smtClean="0">
                <a:latin typeface="Arial" pitchFamily="-123" charset="0"/>
                <a:ea typeface="ＭＳ Ｐゴシック" pitchFamily="-123" charset="-128"/>
                <a:cs typeface="ＭＳ Ｐゴシック" pitchFamily="-123" charset="-128"/>
              </a:rPr>
              <a:pPr/>
              <a:t>1</a:t>
            </a:fld>
            <a:endParaRPr lang="en-US">
              <a:latin typeface="Arial" pitchFamily="-123" charset="0"/>
              <a:ea typeface="ＭＳ Ｐゴシック" pitchFamily="-123" charset="-128"/>
              <a:cs typeface="ＭＳ Ｐゴシック" pitchFamily="-123" charset="-128"/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204B1A-73D0-4DB5-9D5A-907DF0676C32}" type="slidenum">
              <a:rPr lang="en-US" smtClean="0">
                <a:latin typeface="Arial" pitchFamily="-123" charset="0"/>
                <a:ea typeface="ＭＳ Ｐゴシック" pitchFamily="-123" charset="-128"/>
                <a:cs typeface="ＭＳ Ｐゴシック" pitchFamily="-123" charset="-128"/>
              </a:rPr>
              <a:pPr/>
              <a:t>2</a:t>
            </a:fld>
            <a:endParaRPr lang="en-US">
              <a:latin typeface="Arial" pitchFamily="-123" charset="0"/>
              <a:ea typeface="ＭＳ Ｐゴシック" pitchFamily="-123" charset="-128"/>
              <a:cs typeface="ＭＳ Ｐゴシック" pitchFamily="-123" charset="-128"/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83259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Placeholder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Placeholder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89658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Placeholder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Placeholder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3868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Placeholder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Placeholder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71337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Placeholder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Placeholder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9776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Placeholder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Placeholder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327701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Placeholder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Placeholder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1037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Placeholder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Placeholder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24883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Placeholder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Placeholder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42456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Placeholder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Placeholder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49230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Placeholder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Placeholder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44296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Placeholder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Placeholder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59278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371600"/>
            <a:ext cx="41529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8700" y="1371600"/>
            <a:ext cx="41529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1350" y="304800"/>
            <a:ext cx="2152650" cy="632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04800"/>
            <a:ext cx="6305550" cy="6324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04800"/>
            <a:ext cx="7696200" cy="603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371600"/>
            <a:ext cx="41529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8700" y="1371600"/>
            <a:ext cx="41529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533400" y="304800"/>
            <a:ext cx="8610600" cy="632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04800"/>
            <a:ext cx="7696200" cy="603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533400" y="1371600"/>
            <a:ext cx="8458200" cy="525780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04800"/>
            <a:ext cx="7696200" cy="603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371600"/>
            <a:ext cx="41529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38700" y="1371600"/>
            <a:ext cx="4152900" cy="255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838700" y="4076700"/>
            <a:ext cx="4152900" cy="255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04800"/>
            <a:ext cx="7696200" cy="603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371600"/>
            <a:ext cx="41529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838700" y="1371600"/>
            <a:ext cx="4152900" cy="525780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04800"/>
            <a:ext cx="7696200" cy="603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371600"/>
            <a:ext cx="41529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38700" y="1371600"/>
            <a:ext cx="4152900" cy="255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838700" y="4076700"/>
            <a:ext cx="4152900" cy="255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28600"/>
            <a:ext cx="69342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447800"/>
            <a:ext cx="7772400" cy="510540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5" r:id="rId2"/>
    <p:sldLayoutId id="2147483664" r:id="rId3"/>
    <p:sldLayoutId id="2147483663" r:id="rId4"/>
    <p:sldLayoutId id="2147483662" r:id="rId5"/>
    <p:sldLayoutId id="2147483661" r:id="rId6"/>
    <p:sldLayoutId id="2147483660" r:id="rId7"/>
    <p:sldLayoutId id="2147483659" r:id="rId8"/>
    <p:sldLayoutId id="2147483658" r:id="rId9"/>
    <p:sldLayoutId id="2147483657" r:id="rId10"/>
    <p:sldLayoutId id="2147483656" r:id="rId11"/>
    <p:sldLayoutId id="2147483655" r:id="rId12"/>
    <p:sldLayoutId id="2147483654" r:id="rId13"/>
    <p:sldLayoutId id="2147483653" r:id="rId14"/>
    <p:sldLayoutId id="2147483652" r:id="rId15"/>
    <p:sldLayoutId id="2147483651" r:id="rId16"/>
    <p:sldLayoutId id="2147483650" r:id="rId17"/>
    <p:sldLayoutId id="214748364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ＭＳ Ｐゴシック" pitchFamily="-123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ＭＳ Ｐゴシック" pitchFamily="1" charset="-128"/>
          <a:cs typeface="ＭＳ Ｐゴシック" pitchFamily="-123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ＭＳ Ｐゴシック" pitchFamily="1" charset="-128"/>
          <a:cs typeface="ＭＳ Ｐゴシック" pitchFamily="-123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ＭＳ Ｐゴシック" pitchFamily="1" charset="-128"/>
          <a:cs typeface="ＭＳ Ｐゴシック" pitchFamily="-123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ＭＳ Ｐゴシック" pitchFamily="1" charset="-128"/>
          <a:cs typeface="ＭＳ Ｐゴシック" pitchFamily="-123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ＭＳ Ｐゴシック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ＭＳ Ｐゴシック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ＭＳ Ｐゴシック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ＭＳ Ｐゴシック" pitchFamily="1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ＭＳ Ｐゴシック" pitchFamily="-123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onnx.ai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Line 4"/>
          <p:cNvSpPr>
            <a:spLocks noChangeShapeType="1"/>
          </p:cNvSpPr>
          <p:nvPr/>
        </p:nvSpPr>
        <p:spPr bwMode="auto">
          <a:xfrm>
            <a:off x="76200" y="2219325"/>
            <a:ext cx="8991600" cy="0"/>
          </a:xfrm>
          <a:prstGeom prst="line">
            <a:avLst/>
          </a:prstGeom>
          <a:noFill/>
          <a:ln w="57150">
            <a:solidFill>
              <a:srgbClr val="C0C0C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5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9F0305"/>
          </a:solidFill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/>
              <a:t>&lt;N</a:t>
            </a:r>
          </a:p>
        </p:txBody>
      </p:sp>
      <p:sp>
        <p:nvSpPr>
          <p:cNvPr id="21507" name="Rectangle 7"/>
          <p:cNvSpPr>
            <a:spLocks noChangeArrowheads="1"/>
          </p:cNvSpPr>
          <p:nvPr/>
        </p:nvSpPr>
        <p:spPr bwMode="auto">
          <a:xfrm>
            <a:off x="0" y="762000"/>
            <a:ext cx="9144000" cy="1219200"/>
          </a:xfrm>
          <a:prstGeom prst="rect">
            <a:avLst/>
          </a:prstGeom>
          <a:noFill/>
          <a:ln w="1524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21508" name="Rectangle 8"/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420688"/>
            <a:ext cx="7772400" cy="179863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b="1" dirty="0">
                <a:solidFill>
                  <a:srgbClr val="FFFFFF"/>
                </a:solidFill>
              </a:rPr>
              <a:t>MILESTONE 2 UPDATE:</a:t>
            </a:r>
            <a:br>
              <a:rPr lang="en-US" b="1" dirty="0">
                <a:solidFill>
                  <a:srgbClr val="FFFFFF"/>
                </a:solidFill>
              </a:rPr>
            </a:br>
            <a:br>
              <a:rPr lang="en-US" b="1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Integrating Machine Learning Into 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UTAP App</a:t>
            </a:r>
            <a:br>
              <a:rPr lang="en-US" b="1" dirty="0">
                <a:solidFill>
                  <a:srgbClr val="FFFFFF"/>
                </a:solidFill>
              </a:rPr>
            </a:br>
            <a:endParaRPr lang="en-US" b="1" dirty="0">
              <a:solidFill>
                <a:srgbClr val="FFFFFF"/>
              </a:solidFill>
            </a:endParaRPr>
          </a:p>
        </p:txBody>
      </p:sp>
      <p:pic>
        <p:nvPicPr>
          <p:cNvPr id="21509" name="Picture 15" descr="Campus Fall Panorama"/>
          <p:cNvPicPr>
            <a:picLocks noChangeAspect="1" noChangeArrowheads="1"/>
          </p:cNvPicPr>
          <p:nvPr/>
        </p:nvPicPr>
        <p:blipFill rotWithShape="1">
          <a:blip r:embed="rId3"/>
          <a:srcRect r="34401"/>
          <a:stretch/>
        </p:blipFill>
        <p:spPr bwMode="auto">
          <a:xfrm>
            <a:off x="91383" y="2268815"/>
            <a:ext cx="5194937" cy="2868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10144125" y="656748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956ECC-B867-1C8C-42EF-0CDADF2D7D71}"/>
              </a:ext>
            </a:extLst>
          </p:cNvPr>
          <p:cNvSpPr txBox="1"/>
          <p:nvPr/>
        </p:nvSpPr>
        <p:spPr>
          <a:xfrm>
            <a:off x="248478" y="5555973"/>
            <a:ext cx="88955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Hayden Walpole and Daniel McNally</a:t>
            </a:r>
          </a:p>
          <a:p>
            <a:r>
              <a:rPr lang="en-US">
                <a:solidFill>
                  <a:schemeClr val="bg1"/>
                </a:solidFill>
              </a:rPr>
              <a:t>Technical Advisor:  Nathan Hansen &amp; Prof. Benjamin Sanchez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50E60B-E748-FB06-844C-4A9B9FF2D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375" y="2244447"/>
            <a:ext cx="3785174" cy="2916715"/>
          </a:xfrm>
          <a:prstGeom prst="rect">
            <a:avLst/>
          </a:prstGeom>
        </p:spPr>
      </p:pic>
      <p:sp>
        <p:nvSpPr>
          <p:cNvPr id="21510" name="Line 5"/>
          <p:cNvSpPr>
            <a:spLocks noChangeShapeType="1"/>
          </p:cNvSpPr>
          <p:nvPr/>
        </p:nvSpPr>
        <p:spPr bwMode="auto">
          <a:xfrm>
            <a:off x="76200" y="5173662"/>
            <a:ext cx="8991600" cy="0"/>
          </a:xfrm>
          <a:prstGeom prst="line">
            <a:avLst/>
          </a:prstGeom>
          <a:noFill/>
          <a:ln w="57150">
            <a:solidFill>
              <a:srgbClr val="C0C0C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1511" name="Picture 6" descr="ENG_SEAL_RedGray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457950" y="4564262"/>
            <a:ext cx="1196975" cy="119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Line 5">
            <a:extLst>
              <a:ext uri="{FF2B5EF4-FFF2-40B4-BE49-F238E27FC236}">
                <a16:creationId xmlns:a16="http://schemas.microsoft.com/office/drawing/2014/main" id="{F39E1DA0-D392-D255-5E0F-B2A51C8D3A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2262549"/>
            <a:ext cx="9144000" cy="18817"/>
          </a:xfrm>
          <a:prstGeom prst="line">
            <a:avLst/>
          </a:prstGeom>
          <a:noFill/>
          <a:ln w="57150">
            <a:solidFill>
              <a:srgbClr val="C0C0C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Line 4"/>
          <p:cNvSpPr>
            <a:spLocks noChangeShapeType="1"/>
          </p:cNvSpPr>
          <p:nvPr/>
        </p:nvSpPr>
        <p:spPr bwMode="auto">
          <a:xfrm>
            <a:off x="76200" y="2219325"/>
            <a:ext cx="8991600" cy="0"/>
          </a:xfrm>
          <a:prstGeom prst="line">
            <a:avLst/>
          </a:prstGeom>
          <a:noFill/>
          <a:ln w="57150">
            <a:solidFill>
              <a:srgbClr val="C0C0C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5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9F0305"/>
          </a:solidFill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/>
              <a:t>&lt;N</a:t>
            </a:r>
          </a:p>
        </p:txBody>
      </p:sp>
      <p:sp>
        <p:nvSpPr>
          <p:cNvPr id="21507" name="Rectangle 7"/>
          <p:cNvSpPr>
            <a:spLocks noChangeArrowheads="1"/>
          </p:cNvSpPr>
          <p:nvPr/>
        </p:nvSpPr>
        <p:spPr bwMode="auto">
          <a:xfrm>
            <a:off x="0" y="762000"/>
            <a:ext cx="9144000" cy="1219200"/>
          </a:xfrm>
          <a:prstGeom prst="rect">
            <a:avLst/>
          </a:prstGeom>
          <a:noFill/>
          <a:ln w="1524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21508" name="Rectangle 8"/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420688"/>
            <a:ext cx="7772400" cy="179863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b="1">
                <a:solidFill>
                  <a:srgbClr val="FFFFFF"/>
                </a:solidFill>
              </a:rPr>
              <a:t>MILESTONE 1 UPDATE:</a:t>
            </a:r>
            <a:br>
              <a:rPr lang="en-US" b="1">
                <a:solidFill>
                  <a:srgbClr val="FFFFFF"/>
                </a:solidFill>
              </a:rPr>
            </a:br>
            <a:br>
              <a:rPr lang="en-US" b="1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Integrating Machine Learning Into URSKIN App</a:t>
            </a:r>
            <a:br>
              <a:rPr lang="en-US" b="1">
                <a:solidFill>
                  <a:srgbClr val="FFFFFF"/>
                </a:solidFill>
              </a:rPr>
            </a:b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10144125" y="656748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956ECC-B867-1C8C-42EF-0CDADF2D7D71}"/>
              </a:ext>
            </a:extLst>
          </p:cNvPr>
          <p:cNvSpPr txBox="1"/>
          <p:nvPr/>
        </p:nvSpPr>
        <p:spPr>
          <a:xfrm>
            <a:off x="248478" y="5555973"/>
            <a:ext cx="88955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Hayden Walpole and Daniel McNally</a:t>
            </a:r>
          </a:p>
          <a:p>
            <a:r>
              <a:rPr lang="en-US">
                <a:solidFill>
                  <a:schemeClr val="bg1"/>
                </a:solidFill>
              </a:rPr>
              <a:t>Technical Advisor:  Nathan Hansen &amp; Prof. Benjamin Sanchez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50E60B-E748-FB06-844C-4A9B9FF2D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15" y="71360"/>
            <a:ext cx="8714770" cy="671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59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3" name="Picture 7" descr="ECE_Logo_RedGray_H_45%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96125" y="6410325"/>
            <a:ext cx="1792288" cy="269875"/>
          </a:xfrm>
          <a:prstGeom prst="rect">
            <a:avLst/>
          </a:prstGeom>
          <a:noFill/>
        </p:spPr>
      </p:pic>
      <p:sp>
        <p:nvSpPr>
          <p:cNvPr id="50179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-87313" y="479425"/>
            <a:ext cx="9296401" cy="685800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latin typeface="Arial" charset="0"/>
              <a:ea typeface="ＭＳ Ｐゴシック" pitchFamily="1" charset="-128"/>
              <a:cs typeface="+mn-cs"/>
            </a:endParaRPr>
          </a:p>
        </p:txBody>
      </p:sp>
      <p:sp>
        <p:nvSpPr>
          <p:cNvPr id="50181" name="Rectangle 2"/>
          <p:cNvSpPr>
            <a:spLocks noChangeArrowheads="1"/>
          </p:cNvSpPr>
          <p:nvPr/>
        </p:nvSpPr>
        <p:spPr bwMode="auto">
          <a:xfrm>
            <a:off x="354013" y="514350"/>
            <a:ext cx="828833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 sz="3200">
                <a:solidFill>
                  <a:schemeClr val="bg1"/>
                </a:solidFill>
              </a:rPr>
              <a:t>Our Timeline</a:t>
            </a:r>
          </a:p>
        </p:txBody>
      </p:sp>
      <p:sp>
        <p:nvSpPr>
          <p:cNvPr id="50182" name="Rectangle 3"/>
          <p:cNvSpPr>
            <a:spLocks noChangeArrowheads="1"/>
          </p:cNvSpPr>
          <p:nvPr/>
        </p:nvSpPr>
        <p:spPr bwMode="auto">
          <a:xfrm>
            <a:off x="422275" y="1458913"/>
            <a:ext cx="8237538" cy="491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97B6CDC-7DDF-7944-9026-93F0832CA1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097853"/>
              </p:ext>
            </p:extLst>
          </p:nvPr>
        </p:nvGraphicFramePr>
        <p:xfrm>
          <a:off x="1078149" y="2126574"/>
          <a:ext cx="6987702" cy="2841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3851">
                  <a:extLst>
                    <a:ext uri="{9D8B030D-6E8A-4147-A177-3AD203B41FA5}">
                      <a16:colId xmlns:a16="http://schemas.microsoft.com/office/drawing/2014/main" val="90422015"/>
                    </a:ext>
                  </a:extLst>
                </a:gridCol>
                <a:gridCol w="3493851">
                  <a:extLst>
                    <a:ext uri="{9D8B030D-6E8A-4147-A177-3AD203B41FA5}">
                      <a16:colId xmlns:a16="http://schemas.microsoft.com/office/drawing/2014/main" val="1311081591"/>
                    </a:ext>
                  </a:extLst>
                </a:gridCol>
              </a:tblGrid>
              <a:tr h="47352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Estimated Completion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390594"/>
                  </a:ext>
                </a:extLst>
              </a:tr>
              <a:tr h="473521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006600"/>
                          </a:solidFill>
                        </a:rPr>
                        <a:t>Working Frontend UI</a:t>
                      </a:r>
                    </a:p>
                  </a:txBody>
                  <a:tcP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006600"/>
                          </a:solidFill>
                        </a:rPr>
                        <a:t>March 15</a:t>
                      </a:r>
                      <a:r>
                        <a:rPr lang="en-US" baseline="30000">
                          <a:solidFill>
                            <a:srgbClr val="006600"/>
                          </a:solidFill>
                        </a:rPr>
                        <a:t>th</a:t>
                      </a:r>
                      <a:r>
                        <a:rPr lang="en-US">
                          <a:solidFill>
                            <a:srgbClr val="006600"/>
                          </a:solidFill>
                        </a:rPr>
                        <a:t>, 2025</a:t>
                      </a:r>
                    </a:p>
                  </a:txBody>
                  <a:tcP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651000"/>
                  </a:ext>
                </a:extLst>
              </a:tr>
              <a:tr h="473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rgbClr val="006600"/>
                          </a:solidFill>
                        </a:rPr>
                        <a:t>Single Model ML Prototype</a:t>
                      </a:r>
                    </a:p>
                  </a:txBody>
                  <a:tcP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6600"/>
                          </a:solidFill>
                        </a:rPr>
                        <a:t>April 15</a:t>
                      </a:r>
                      <a:r>
                        <a:rPr lang="en-US" baseline="30000" dirty="0">
                          <a:solidFill>
                            <a:srgbClr val="006600"/>
                          </a:solidFill>
                        </a:rPr>
                        <a:t>th</a:t>
                      </a:r>
                      <a:r>
                        <a:rPr lang="en-US" dirty="0">
                          <a:solidFill>
                            <a:srgbClr val="006600"/>
                          </a:solidFill>
                        </a:rPr>
                        <a:t>, 2025</a:t>
                      </a:r>
                    </a:p>
                  </a:txBody>
                  <a:tcP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521137"/>
                  </a:ext>
                </a:extLst>
              </a:tr>
              <a:tr h="473521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006600"/>
                          </a:solidFill>
                        </a:rPr>
                        <a:t>Multiple Model ML Application</a:t>
                      </a:r>
                    </a:p>
                  </a:txBody>
                  <a:tcP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6600"/>
                          </a:solidFill>
                        </a:rPr>
                        <a:t>November 1</a:t>
                      </a:r>
                      <a:r>
                        <a:rPr lang="en-US" baseline="30000" dirty="0">
                          <a:solidFill>
                            <a:srgbClr val="006600"/>
                          </a:solidFill>
                        </a:rPr>
                        <a:t>st</a:t>
                      </a:r>
                      <a:r>
                        <a:rPr lang="en-US" dirty="0">
                          <a:solidFill>
                            <a:srgbClr val="006600"/>
                          </a:solidFill>
                        </a:rPr>
                        <a:t>, 2025</a:t>
                      </a:r>
                    </a:p>
                  </a:txBody>
                  <a:tcP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911450"/>
                  </a:ext>
                </a:extLst>
              </a:tr>
              <a:tr h="473521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Final Integrated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November 30</a:t>
                      </a:r>
                      <a:r>
                        <a:rPr lang="en-US" baseline="3000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th</a:t>
                      </a:r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, 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66806"/>
                  </a:ext>
                </a:extLst>
              </a:tr>
              <a:tr h="473521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Demo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December 5</a:t>
                      </a:r>
                      <a:r>
                        <a:rPr lang="en-US" baseline="3000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th</a:t>
                      </a:r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, 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793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7315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>
            <a:extLst>
              <a:ext uri="{FF2B5EF4-FFF2-40B4-BE49-F238E27FC236}">
                <a16:creationId xmlns:a16="http://schemas.microsoft.com/office/drawing/2014/main" id="{A84743E1-588F-4663-2956-EAE61E9BA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6857"/>
            <a:ext cx="9296401" cy="685800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4000" b="1">
                <a:solidFill>
                  <a:schemeClr val="bg1"/>
                </a:solidFill>
                <a:latin typeface="Arial" charset="0"/>
                <a:ea typeface="ＭＳ Ｐゴシック" pitchFamily="1" charset="-128"/>
                <a:cs typeface="+mn-cs"/>
              </a:rPr>
              <a:t>Team Contributions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06D9C1A-AC11-7739-79D3-DA0AC96F2E33}"/>
              </a:ext>
            </a:extLst>
          </p:cNvPr>
          <p:cNvSpPr/>
          <p:nvPr/>
        </p:nvSpPr>
        <p:spPr bwMode="auto">
          <a:xfrm>
            <a:off x="784859" y="1532538"/>
            <a:ext cx="1819656" cy="61785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1" charset="-128"/>
              </a:rPr>
              <a:t>Daniel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1572336-6769-F299-5694-FBC94912B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7313" y="479425"/>
            <a:ext cx="9296401" cy="685800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latin typeface="Arial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A091CA5-90BD-D082-AA5C-F33A1917726C}"/>
              </a:ext>
            </a:extLst>
          </p:cNvPr>
          <p:cNvSpPr/>
          <p:nvPr/>
        </p:nvSpPr>
        <p:spPr bwMode="auto">
          <a:xfrm>
            <a:off x="6218491" y="1535710"/>
            <a:ext cx="1819656" cy="61785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1" charset="-128"/>
              </a:rPr>
              <a:t>Hayden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1B04E24-10F9-5AB1-45B0-01B6CF6C9E86}"/>
              </a:ext>
            </a:extLst>
          </p:cNvPr>
          <p:cNvSpPr/>
          <p:nvPr/>
        </p:nvSpPr>
        <p:spPr bwMode="auto">
          <a:xfrm>
            <a:off x="820791" y="2455929"/>
            <a:ext cx="1783720" cy="308927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1" charset="-128"/>
              </a:rPr>
              <a:t>User Interface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4898F0-CF52-3396-F134-95636266E0E2}"/>
              </a:ext>
            </a:extLst>
          </p:cNvPr>
          <p:cNvSpPr/>
          <p:nvPr/>
        </p:nvSpPr>
        <p:spPr bwMode="auto">
          <a:xfrm>
            <a:off x="6053328" y="2466191"/>
            <a:ext cx="2149982" cy="28840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1" charset="-128"/>
              </a:rPr>
              <a:t>ONNX Model Manager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5C88DBD-63BD-6A66-0A82-B71487FFF659}"/>
              </a:ext>
            </a:extLst>
          </p:cNvPr>
          <p:cNvCxnSpPr>
            <a:cxnSpLocks/>
          </p:cNvCxnSpPr>
          <p:nvPr/>
        </p:nvCxnSpPr>
        <p:spPr bwMode="auto">
          <a:xfrm>
            <a:off x="7045738" y="2153565"/>
            <a:ext cx="0" cy="31262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B8CCFAA-B0C1-7B21-B40E-8DD879BE22B4}"/>
              </a:ext>
            </a:extLst>
          </p:cNvPr>
          <p:cNvCxnSpPr>
            <a:cxnSpLocks/>
          </p:cNvCxnSpPr>
          <p:nvPr/>
        </p:nvCxnSpPr>
        <p:spPr bwMode="auto">
          <a:xfrm>
            <a:off x="1691876" y="2150393"/>
            <a:ext cx="17964" cy="30553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057062A-A692-F5AA-DA42-9B003D4C30A9}"/>
              </a:ext>
            </a:extLst>
          </p:cNvPr>
          <p:cNvSpPr/>
          <p:nvPr/>
        </p:nvSpPr>
        <p:spPr bwMode="auto">
          <a:xfrm>
            <a:off x="820790" y="2990613"/>
            <a:ext cx="1783715" cy="472167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1" charset="-128"/>
              </a:rPr>
              <a:t>Voting Algorithm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74E98DA-3534-B837-6145-562B70803C52}"/>
              </a:ext>
            </a:extLst>
          </p:cNvPr>
          <p:cNvSpPr/>
          <p:nvPr/>
        </p:nvSpPr>
        <p:spPr bwMode="auto">
          <a:xfrm>
            <a:off x="2893297" y="4086550"/>
            <a:ext cx="2716792" cy="729206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1" charset="-128"/>
              </a:rPr>
              <a:t>ADABoosting</a:t>
            </a: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1" charset="-128"/>
              </a:rPr>
              <a:t> Model Testing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1" charset="-128"/>
              </a:rPr>
              <a:t>: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Arial" charset="0"/>
                <a:ea typeface="ＭＳ Ｐゴシック" pitchFamily="1" charset="-128"/>
              </a:rPr>
              <a:t>-Default Data Arrays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1" charset="-128"/>
              </a:rPr>
              <a:t>-Measure Data from Device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CB02F3D-9165-B99A-CD57-3FB745AFFC6A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 bwMode="auto">
          <a:xfrm>
            <a:off x="1712648" y="3462780"/>
            <a:ext cx="2539045" cy="6237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3B457E0-3753-B852-F204-007B5C8B3D52}"/>
              </a:ext>
            </a:extLst>
          </p:cNvPr>
          <p:cNvSpPr/>
          <p:nvPr/>
        </p:nvSpPr>
        <p:spPr bwMode="auto">
          <a:xfrm>
            <a:off x="6053329" y="2976949"/>
            <a:ext cx="2149981" cy="509674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1" charset="-128"/>
              </a:rPr>
              <a:t>Extracting Model Confidence and Prediction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DCCFAAC-8F3A-1FCC-D9C1-2352EA02A23E}"/>
              </a:ext>
            </a:extLst>
          </p:cNvPr>
          <p:cNvCxnSpPr>
            <a:cxnSpLocks/>
          </p:cNvCxnSpPr>
          <p:nvPr/>
        </p:nvCxnSpPr>
        <p:spPr bwMode="auto">
          <a:xfrm>
            <a:off x="1700858" y="2775118"/>
            <a:ext cx="0" cy="2082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7FC5F3D-D7E1-E590-6BFC-AF87279FD8E5}"/>
              </a:ext>
            </a:extLst>
          </p:cNvPr>
          <p:cNvSpPr/>
          <p:nvPr/>
        </p:nvSpPr>
        <p:spPr bwMode="auto">
          <a:xfrm>
            <a:off x="443445" y="5056632"/>
            <a:ext cx="3717075" cy="1387025"/>
          </a:xfrm>
          <a:prstGeom prst="round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1" charset="-128"/>
              </a:rPr>
              <a:t>FUTURE: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1" charset="-128"/>
              </a:rPr>
              <a:t>UI Finalization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Arial" charset="0"/>
                <a:ea typeface="ＭＳ Ｐゴシック" pitchFamily="1" charset="-128"/>
              </a:rPr>
              <a:t>Possible Changes to Voting Algorithm</a:t>
            </a: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Arial" charset="0"/>
                <a:ea typeface="ＭＳ Ｐゴシック" pitchFamily="1" charset="-128"/>
              </a:rPr>
              <a:t>Electrode Array Improvement?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dirty="0">
              <a:latin typeface="Arial" charset="0"/>
              <a:ea typeface="ＭＳ Ｐゴシック" pitchFamily="1" charset="-128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dirty="0">
              <a:latin typeface="Arial" charset="0"/>
              <a:ea typeface="ＭＳ Ｐゴシック" pitchFamily="1" charset="-128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AD56D4F-20CF-393F-A7DF-B8B2F47D9DCC}"/>
              </a:ext>
            </a:extLst>
          </p:cNvPr>
          <p:cNvCxnSpPr>
            <a:cxnSpLocks/>
          </p:cNvCxnSpPr>
          <p:nvPr/>
        </p:nvCxnSpPr>
        <p:spPr bwMode="auto">
          <a:xfrm>
            <a:off x="7128319" y="2738125"/>
            <a:ext cx="0" cy="22214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7B7E459-06AB-841D-9CEF-2348772E4589}"/>
              </a:ext>
            </a:extLst>
          </p:cNvPr>
          <p:cNvSpPr/>
          <p:nvPr/>
        </p:nvSpPr>
        <p:spPr bwMode="auto">
          <a:xfrm>
            <a:off x="4608576" y="5049397"/>
            <a:ext cx="4160811" cy="1387024"/>
          </a:xfrm>
          <a:prstGeom prst="round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1" charset="-128"/>
              </a:rPr>
              <a:t>FUTURE: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Arial" charset="0"/>
                <a:ea typeface="ＭＳ Ｐゴシック" pitchFamily="1" charset="-128"/>
              </a:rPr>
              <a:t>Results validation and comparison to PC model</a:t>
            </a:r>
          </a:p>
          <a:p>
            <a:pPr algn="ctr" eaLnBrk="0" hangingPunct="0"/>
            <a:r>
              <a:rPr lang="en-US" sz="1200" dirty="0">
                <a:latin typeface="Arial" charset="0"/>
                <a:ea typeface="ＭＳ Ｐゴシック" pitchFamily="1" charset="-128"/>
              </a:rPr>
              <a:t>Possible Changes to Voting Algorithm</a:t>
            </a: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dirty="0">
              <a:latin typeface="Arial" charset="0"/>
              <a:ea typeface="ＭＳ Ｐゴシック" pitchFamily="1" charset="-128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E28BC56-CB8E-23D5-9A1F-38A58049B743}"/>
              </a:ext>
            </a:extLst>
          </p:cNvPr>
          <p:cNvCxnSpPr>
            <a:cxnSpLocks/>
            <a:stCxn id="29" idx="1"/>
            <a:endCxn id="23" idx="0"/>
          </p:cNvCxnSpPr>
          <p:nvPr/>
        </p:nvCxnSpPr>
        <p:spPr bwMode="auto">
          <a:xfrm flipH="1">
            <a:off x="4251693" y="3231786"/>
            <a:ext cx="1801636" cy="8547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C147E5D-DB20-37FE-CEE4-C5DE56B99C28}"/>
              </a:ext>
            </a:extLst>
          </p:cNvPr>
          <p:cNvCxnSpPr>
            <a:cxnSpLocks/>
            <a:stCxn id="23" idx="2"/>
            <a:endCxn id="36" idx="0"/>
          </p:cNvCxnSpPr>
          <p:nvPr/>
        </p:nvCxnSpPr>
        <p:spPr bwMode="auto">
          <a:xfrm flipH="1">
            <a:off x="2301983" y="4815756"/>
            <a:ext cx="1949710" cy="24087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A2236A8-6A5E-897D-8293-6172968F9F0A}"/>
              </a:ext>
            </a:extLst>
          </p:cNvPr>
          <p:cNvCxnSpPr>
            <a:cxnSpLocks/>
            <a:stCxn id="23" idx="2"/>
            <a:endCxn id="46" idx="0"/>
          </p:cNvCxnSpPr>
          <p:nvPr/>
        </p:nvCxnSpPr>
        <p:spPr bwMode="auto">
          <a:xfrm>
            <a:off x="4251693" y="4815756"/>
            <a:ext cx="2437289" cy="23364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874809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3" name="Picture 7" descr="ECE_Logo_RedGray_H_45%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96125" y="6410325"/>
            <a:ext cx="1792288" cy="269875"/>
          </a:xfrm>
          <a:prstGeom prst="rect">
            <a:avLst/>
          </a:prstGeom>
          <a:noFill/>
        </p:spPr>
      </p:pic>
      <p:sp>
        <p:nvSpPr>
          <p:cNvPr id="50179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50181" name="Rectangle 2"/>
          <p:cNvSpPr>
            <a:spLocks noChangeArrowheads="1"/>
          </p:cNvSpPr>
          <p:nvPr/>
        </p:nvSpPr>
        <p:spPr bwMode="auto">
          <a:xfrm>
            <a:off x="354013" y="514350"/>
            <a:ext cx="828833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 sz="3200">
                <a:solidFill>
                  <a:schemeClr val="bg1"/>
                </a:solidFill>
              </a:rPr>
              <a:t>Original User Interface</a:t>
            </a:r>
          </a:p>
        </p:txBody>
      </p:sp>
      <p:sp>
        <p:nvSpPr>
          <p:cNvPr id="50182" name="Rectangle 3"/>
          <p:cNvSpPr>
            <a:spLocks noChangeArrowheads="1"/>
          </p:cNvSpPr>
          <p:nvPr/>
        </p:nvSpPr>
        <p:spPr bwMode="auto">
          <a:xfrm>
            <a:off x="422275" y="1458913"/>
            <a:ext cx="8237538" cy="491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F16D0F7-ABE6-6C23-8C9F-231531017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0960" y="1425576"/>
            <a:ext cx="9296401" cy="3646296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5400" b="1">
                <a:solidFill>
                  <a:schemeClr val="bg1"/>
                </a:solidFill>
                <a:latin typeface="Arial" charset="0"/>
                <a:ea typeface="ＭＳ Ｐゴシック" pitchFamily="1" charset="-128"/>
                <a:cs typeface="+mn-cs"/>
              </a:rPr>
              <a:t>User interface changes</a:t>
            </a:r>
          </a:p>
        </p:txBody>
      </p:sp>
    </p:spTree>
    <p:extLst>
      <p:ext uri="{BB962C8B-B14F-4D97-AF65-F5344CB8AC3E}">
        <p14:creationId xmlns:p14="http://schemas.microsoft.com/office/powerpoint/2010/main" val="3474997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3" name="Picture 7" descr="ECE_Logo_RedGray_H_45%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96125" y="6410325"/>
            <a:ext cx="1792288" cy="269875"/>
          </a:xfrm>
          <a:prstGeom prst="rect">
            <a:avLst/>
          </a:prstGeom>
          <a:noFill/>
        </p:spPr>
      </p:pic>
      <p:sp>
        <p:nvSpPr>
          <p:cNvPr id="50179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-87313" y="479425"/>
            <a:ext cx="9296401" cy="685800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latin typeface="Arial" charset="0"/>
              <a:ea typeface="ＭＳ Ｐゴシック" pitchFamily="1" charset="-128"/>
              <a:cs typeface="+mn-cs"/>
            </a:endParaRPr>
          </a:p>
        </p:txBody>
      </p:sp>
      <p:sp>
        <p:nvSpPr>
          <p:cNvPr id="50181" name="Rectangle 2"/>
          <p:cNvSpPr>
            <a:spLocks noChangeArrowheads="1"/>
          </p:cNvSpPr>
          <p:nvPr/>
        </p:nvSpPr>
        <p:spPr bwMode="auto">
          <a:xfrm>
            <a:off x="354013" y="514350"/>
            <a:ext cx="828833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 sz="3200">
                <a:solidFill>
                  <a:schemeClr val="bg1"/>
                </a:solidFill>
              </a:rPr>
              <a:t>Original User Interface</a:t>
            </a:r>
          </a:p>
        </p:txBody>
      </p:sp>
      <p:sp>
        <p:nvSpPr>
          <p:cNvPr id="50182" name="Rectangle 3"/>
          <p:cNvSpPr>
            <a:spLocks noChangeArrowheads="1"/>
          </p:cNvSpPr>
          <p:nvPr/>
        </p:nvSpPr>
        <p:spPr bwMode="auto">
          <a:xfrm>
            <a:off x="422275" y="1458913"/>
            <a:ext cx="8237538" cy="491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08C96-7BC9-A3AA-655A-72EFCC54B6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5297" y="1148773"/>
            <a:ext cx="1903227" cy="4243492"/>
          </a:xfrm>
          <a:prstGeom prst="rect">
            <a:avLst/>
          </a:prstGeom>
        </p:spPr>
      </p:pic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455050D7-E992-BA93-F830-2C8FF262696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878" y="1174270"/>
            <a:ext cx="1885852" cy="42047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716CCF-CEBD-9B3E-EFAD-1245E6767F7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2458" y="1172047"/>
            <a:ext cx="1881867" cy="4195867"/>
          </a:xfrm>
          <a:prstGeom prst="rect">
            <a:avLst/>
          </a:prstGeom>
        </p:spPr>
      </p:pic>
      <p:pic>
        <p:nvPicPr>
          <p:cNvPr id="3" name="Picture 2" descr="Chart, box and whisker chart&#10;&#10;Description automatically generated">
            <a:extLst>
              <a:ext uri="{FF2B5EF4-FFF2-40B4-BE49-F238E27FC236}">
                <a16:creationId xmlns:a16="http://schemas.microsoft.com/office/drawing/2014/main" id="{20D559C0-FD02-13B4-4E4C-0836766B3BF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134" y="1175321"/>
            <a:ext cx="1857586" cy="4141729"/>
          </a:xfrm>
          <a:prstGeom prst="rect">
            <a:avLst/>
          </a:prstGeom>
        </p:spPr>
      </p:pic>
      <p:sp>
        <p:nvSpPr>
          <p:cNvPr id="6" name="Rectangle 8">
            <a:extLst>
              <a:ext uri="{FF2B5EF4-FFF2-40B4-BE49-F238E27FC236}">
                <a16:creationId xmlns:a16="http://schemas.microsoft.com/office/drawing/2014/main" id="{CF16D0F7-ABE6-6C23-8C9F-231531017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1" y="5421411"/>
            <a:ext cx="9296401" cy="685800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latin typeface="Arial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6196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3" name="Picture 7" descr="ECE_Logo_RedGray_H_45%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96125" y="6410325"/>
            <a:ext cx="1792288" cy="269875"/>
          </a:xfrm>
          <a:prstGeom prst="rect">
            <a:avLst/>
          </a:prstGeom>
          <a:noFill/>
        </p:spPr>
      </p:pic>
      <p:sp>
        <p:nvSpPr>
          <p:cNvPr id="50179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-87313" y="479425"/>
            <a:ext cx="9296401" cy="685800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latin typeface="Arial" charset="0"/>
              <a:ea typeface="ＭＳ Ｐゴシック" pitchFamily="1" charset="-128"/>
              <a:cs typeface="+mn-cs"/>
            </a:endParaRPr>
          </a:p>
        </p:txBody>
      </p:sp>
      <p:sp>
        <p:nvSpPr>
          <p:cNvPr id="50181" name="Rectangle 2"/>
          <p:cNvSpPr>
            <a:spLocks noChangeArrowheads="1"/>
          </p:cNvSpPr>
          <p:nvPr/>
        </p:nvSpPr>
        <p:spPr bwMode="auto">
          <a:xfrm>
            <a:off x="354013" y="514350"/>
            <a:ext cx="828833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 sz="3200">
                <a:solidFill>
                  <a:schemeClr val="bg1"/>
                </a:solidFill>
              </a:rPr>
              <a:t>New User Interface</a:t>
            </a:r>
          </a:p>
        </p:txBody>
      </p:sp>
      <p:sp>
        <p:nvSpPr>
          <p:cNvPr id="50182" name="Rectangle 3"/>
          <p:cNvSpPr>
            <a:spLocks noChangeArrowheads="1"/>
          </p:cNvSpPr>
          <p:nvPr/>
        </p:nvSpPr>
        <p:spPr bwMode="auto">
          <a:xfrm>
            <a:off x="422275" y="1458913"/>
            <a:ext cx="8237538" cy="491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F16D0F7-ABE6-6C23-8C9F-231531017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1" y="5412902"/>
            <a:ext cx="9296401" cy="685800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latin typeface="Arial" charset="0"/>
              <a:ea typeface="ＭＳ Ｐゴシック" pitchFamily="1" charset="-128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1CEFE9-E8E5-3211-43F7-1246712FC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1" y="1200150"/>
            <a:ext cx="1925594" cy="41794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1454E4-0A3C-9401-0A64-6580003AECB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458" r="4755" b="3180"/>
          <a:stretch/>
        </p:blipFill>
        <p:spPr>
          <a:xfrm>
            <a:off x="2173582" y="1165225"/>
            <a:ext cx="1925594" cy="41794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2C2C37-C21E-2C36-12FF-9B7F6A6EAC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8205" y="1231899"/>
            <a:ext cx="1964780" cy="41810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ABEB6E8-B95A-125E-A851-DA6120576A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5033" y="1236356"/>
            <a:ext cx="1964780" cy="415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722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3" name="Picture 7" descr="ECE_Logo_RedGray_H_45%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96125" y="6410325"/>
            <a:ext cx="1792288" cy="269875"/>
          </a:xfrm>
          <a:prstGeom prst="rect">
            <a:avLst/>
          </a:prstGeom>
          <a:noFill/>
        </p:spPr>
      </p:pic>
      <p:sp>
        <p:nvSpPr>
          <p:cNvPr id="50179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50181" name="Rectangle 2"/>
          <p:cNvSpPr>
            <a:spLocks noChangeArrowheads="1"/>
          </p:cNvSpPr>
          <p:nvPr/>
        </p:nvSpPr>
        <p:spPr bwMode="auto">
          <a:xfrm>
            <a:off x="354013" y="514350"/>
            <a:ext cx="828833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 sz="3200">
                <a:solidFill>
                  <a:schemeClr val="bg1"/>
                </a:solidFill>
              </a:rPr>
              <a:t>Original User Interface</a:t>
            </a:r>
          </a:p>
        </p:txBody>
      </p:sp>
      <p:sp>
        <p:nvSpPr>
          <p:cNvPr id="50182" name="Rectangle 3"/>
          <p:cNvSpPr>
            <a:spLocks noChangeArrowheads="1"/>
          </p:cNvSpPr>
          <p:nvPr/>
        </p:nvSpPr>
        <p:spPr bwMode="auto">
          <a:xfrm>
            <a:off x="422275" y="1458913"/>
            <a:ext cx="8237538" cy="491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F16D0F7-ABE6-6C23-8C9F-231531017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0581" y="1382015"/>
            <a:ext cx="9296401" cy="3646296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dirty="0">
                <a:solidFill>
                  <a:schemeClr val="bg1"/>
                </a:solidFill>
              </a:rPr>
              <a:t>Multiple Model and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dirty="0">
                <a:solidFill>
                  <a:schemeClr val="bg1"/>
                </a:solidFill>
              </a:rPr>
              <a:t>Voting 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117008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3" name="Picture 7" descr="ECE_Logo_RedGray_H_45%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96125" y="6410325"/>
            <a:ext cx="1792288" cy="269875"/>
          </a:xfrm>
          <a:prstGeom prst="rect">
            <a:avLst/>
          </a:prstGeom>
          <a:noFill/>
        </p:spPr>
      </p:pic>
      <p:sp>
        <p:nvSpPr>
          <p:cNvPr id="50179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-76201" y="154782"/>
            <a:ext cx="9296401" cy="685800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3600" dirty="0">
                <a:solidFill>
                  <a:schemeClr val="bg1"/>
                </a:solidFill>
                <a:latin typeface="Arial" charset="0"/>
                <a:ea typeface="ＭＳ Ｐゴシック" pitchFamily="1" charset="-128"/>
                <a:cs typeface="+mn-cs"/>
              </a:rPr>
              <a:t>ONNX Model Manager</a:t>
            </a:r>
          </a:p>
        </p:txBody>
      </p:sp>
      <p:sp>
        <p:nvSpPr>
          <p:cNvPr id="50181" name="Rectangle 2"/>
          <p:cNvSpPr>
            <a:spLocks noChangeArrowheads="1"/>
          </p:cNvSpPr>
          <p:nvPr/>
        </p:nvSpPr>
        <p:spPr bwMode="auto">
          <a:xfrm>
            <a:off x="396875" y="174023"/>
            <a:ext cx="828833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50182" name="Rectangle 3"/>
          <p:cNvSpPr>
            <a:spLocks noChangeArrowheads="1"/>
          </p:cNvSpPr>
          <p:nvPr/>
        </p:nvSpPr>
        <p:spPr bwMode="auto">
          <a:xfrm>
            <a:off x="422275" y="1458913"/>
            <a:ext cx="8237538" cy="491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9174B1-16F4-20B4-5F4E-C5F517360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201" y="977901"/>
            <a:ext cx="9296400" cy="566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957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3" name="Picture 7" descr="ECE_Logo_RedGray_H_45%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96125" y="6410325"/>
            <a:ext cx="1792288" cy="269875"/>
          </a:xfrm>
          <a:prstGeom prst="rect">
            <a:avLst/>
          </a:prstGeom>
          <a:noFill/>
        </p:spPr>
      </p:pic>
      <p:sp>
        <p:nvSpPr>
          <p:cNvPr id="50179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-76201" y="154782"/>
            <a:ext cx="9296401" cy="685800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3600" dirty="0">
                <a:solidFill>
                  <a:schemeClr val="bg1"/>
                </a:solidFill>
                <a:latin typeface="Arial" charset="0"/>
                <a:ea typeface="ＭＳ Ｐゴシック" pitchFamily="1" charset="-128"/>
                <a:cs typeface="+mn-cs"/>
              </a:rPr>
              <a:t>Voting</a:t>
            </a:r>
          </a:p>
        </p:txBody>
      </p:sp>
      <p:sp>
        <p:nvSpPr>
          <p:cNvPr id="50181" name="Rectangle 2"/>
          <p:cNvSpPr>
            <a:spLocks noChangeArrowheads="1"/>
          </p:cNvSpPr>
          <p:nvPr/>
        </p:nvSpPr>
        <p:spPr bwMode="auto">
          <a:xfrm>
            <a:off x="396875" y="174023"/>
            <a:ext cx="828833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50182" name="Rectangle 3"/>
          <p:cNvSpPr>
            <a:spLocks noChangeArrowheads="1"/>
          </p:cNvSpPr>
          <p:nvPr/>
        </p:nvSpPr>
        <p:spPr bwMode="auto">
          <a:xfrm>
            <a:off x="422275" y="1458913"/>
            <a:ext cx="8237538" cy="491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4134C1-0F63-9AB1-D2D7-898DD110D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201" y="917541"/>
            <a:ext cx="9309584" cy="594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274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3" name="Picture 7" descr="ECE_Logo_RedGray_H_45%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96125" y="6410325"/>
            <a:ext cx="1792288" cy="269875"/>
          </a:xfrm>
          <a:prstGeom prst="rect">
            <a:avLst/>
          </a:prstGeom>
          <a:noFill/>
        </p:spPr>
      </p:pic>
      <p:sp>
        <p:nvSpPr>
          <p:cNvPr id="50179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-76201" y="154782"/>
            <a:ext cx="9296401" cy="685800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3600" dirty="0">
                <a:solidFill>
                  <a:schemeClr val="bg1"/>
                </a:solidFill>
                <a:latin typeface="Arial" charset="0"/>
                <a:ea typeface="ＭＳ Ｐゴシック" pitchFamily="1" charset="-128"/>
                <a:cs typeface="+mn-cs"/>
              </a:rPr>
              <a:t>Data File </a:t>
            </a:r>
            <a:r>
              <a:rPr lang="en-US" sz="3600" dirty="0" err="1">
                <a:solidFill>
                  <a:schemeClr val="bg1"/>
                </a:solidFill>
                <a:latin typeface="Arial" charset="0"/>
                <a:ea typeface="ＭＳ Ｐゴシック" pitchFamily="1" charset="-128"/>
                <a:cs typeface="+mn-cs"/>
              </a:rPr>
              <a:t>SCC_vs_Healthy</a:t>
            </a:r>
            <a:endParaRPr lang="en-US" sz="3600" dirty="0">
              <a:solidFill>
                <a:schemeClr val="bg1"/>
              </a:solidFill>
              <a:latin typeface="Arial" charset="0"/>
              <a:ea typeface="ＭＳ Ｐゴシック" pitchFamily="1" charset="-128"/>
              <a:cs typeface="+mn-cs"/>
            </a:endParaRPr>
          </a:p>
        </p:txBody>
      </p:sp>
      <p:sp>
        <p:nvSpPr>
          <p:cNvPr id="50181" name="Rectangle 2"/>
          <p:cNvSpPr>
            <a:spLocks noChangeArrowheads="1"/>
          </p:cNvSpPr>
          <p:nvPr/>
        </p:nvSpPr>
        <p:spPr bwMode="auto">
          <a:xfrm>
            <a:off x="396875" y="174023"/>
            <a:ext cx="828833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50182" name="Rectangle 3"/>
          <p:cNvSpPr>
            <a:spLocks noChangeArrowheads="1"/>
          </p:cNvSpPr>
          <p:nvPr/>
        </p:nvSpPr>
        <p:spPr bwMode="auto">
          <a:xfrm>
            <a:off x="422275" y="1458913"/>
            <a:ext cx="8237538" cy="491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404519-E5B0-7201-8621-4084D0406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0960" y="831458"/>
            <a:ext cx="15126515" cy="629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320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3" name="Picture 7" descr="ECE_Logo_RedGray_H_45%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96125" y="6410325"/>
            <a:ext cx="1792288" cy="269875"/>
          </a:xfrm>
          <a:prstGeom prst="rect">
            <a:avLst/>
          </a:prstGeom>
          <a:noFill/>
        </p:spPr>
      </p:pic>
      <p:sp>
        <p:nvSpPr>
          <p:cNvPr id="50179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-87313" y="479425"/>
            <a:ext cx="9296401" cy="685800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latin typeface="Arial" charset="0"/>
              <a:ea typeface="ＭＳ Ｐゴシック" pitchFamily="1" charset="-128"/>
              <a:cs typeface="+mn-cs"/>
            </a:endParaRPr>
          </a:p>
        </p:txBody>
      </p:sp>
      <p:sp>
        <p:nvSpPr>
          <p:cNvPr id="50181" name="Rectangle 2"/>
          <p:cNvSpPr>
            <a:spLocks noChangeArrowheads="1"/>
          </p:cNvSpPr>
          <p:nvPr/>
        </p:nvSpPr>
        <p:spPr bwMode="auto">
          <a:xfrm>
            <a:off x="354013" y="514350"/>
            <a:ext cx="828833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3200">
                <a:solidFill>
                  <a:schemeClr val="bg1"/>
                </a:solidFill>
              </a:rPr>
              <a:t>Thank You!</a:t>
            </a:r>
          </a:p>
        </p:txBody>
      </p:sp>
      <p:sp>
        <p:nvSpPr>
          <p:cNvPr id="50182" name="Rectangle 3"/>
          <p:cNvSpPr>
            <a:spLocks noChangeArrowheads="1"/>
          </p:cNvSpPr>
          <p:nvPr/>
        </p:nvSpPr>
        <p:spPr bwMode="auto">
          <a:xfrm>
            <a:off x="422275" y="1458913"/>
            <a:ext cx="8237538" cy="491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/>
            <a:endParaRPr lang="en-US" sz="6000" dirty="0"/>
          </a:p>
          <a:p>
            <a:pPr algn="ctr"/>
            <a:r>
              <a:rPr lang="en-US" sz="4800" dirty="0"/>
              <a:t>DEMO</a:t>
            </a:r>
          </a:p>
          <a:p>
            <a:pPr algn="ctr"/>
            <a:br>
              <a:rPr lang="en-US" sz="6000" dirty="0"/>
            </a:b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407715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-76201" y="130779"/>
            <a:ext cx="9296401" cy="685800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3600">
                <a:solidFill>
                  <a:schemeClr val="bg1"/>
                </a:solidFill>
                <a:latin typeface="Arial" charset="0"/>
                <a:ea typeface="ＭＳ Ｐゴシック" pitchFamily="1" charset="-128"/>
                <a:cs typeface="+mn-cs"/>
              </a:rPr>
              <a:t>Plans going Forward</a:t>
            </a:r>
          </a:p>
        </p:txBody>
      </p:sp>
      <p:sp>
        <p:nvSpPr>
          <p:cNvPr id="50181" name="Rectangle 2"/>
          <p:cNvSpPr>
            <a:spLocks noChangeArrowheads="1"/>
          </p:cNvSpPr>
          <p:nvPr/>
        </p:nvSpPr>
        <p:spPr bwMode="auto">
          <a:xfrm>
            <a:off x="396875" y="174023"/>
            <a:ext cx="828833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50182" name="Rectangle 3"/>
          <p:cNvSpPr>
            <a:spLocks noChangeArrowheads="1"/>
          </p:cNvSpPr>
          <p:nvPr/>
        </p:nvSpPr>
        <p:spPr bwMode="auto">
          <a:xfrm>
            <a:off x="422275" y="1458913"/>
            <a:ext cx="8237538" cy="491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A62F10-A883-7E47-7B8E-D47F3CF76A57}"/>
              </a:ext>
            </a:extLst>
          </p:cNvPr>
          <p:cNvSpPr txBox="1"/>
          <p:nvPr/>
        </p:nvSpPr>
        <p:spPr>
          <a:xfrm>
            <a:off x="121921" y="1084037"/>
            <a:ext cx="902207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Finalize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User interface and integrate more models.</a:t>
            </a:r>
          </a:p>
          <a:p>
            <a:pPr algn="l" fontAlgn="base"/>
            <a:endParaRPr lang="en-US" sz="2400" b="0" i="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Create an array of more extensive tests to ensure correct predictions from Testing data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Finish Documentation and Model Voting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algn="l" fontAlgn="base"/>
            <a:endParaRPr lang="en-US" sz="2400" b="0" i="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304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3" name="Picture 7" descr="ECE_Logo_RedGray_H_45%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96125" y="6410325"/>
            <a:ext cx="1792288" cy="269875"/>
          </a:xfrm>
          <a:prstGeom prst="rect">
            <a:avLst/>
          </a:prstGeom>
          <a:noFill/>
        </p:spPr>
      </p:pic>
      <p:sp>
        <p:nvSpPr>
          <p:cNvPr id="50179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-87313" y="479425"/>
            <a:ext cx="9296401" cy="685800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latin typeface="Arial" charset="0"/>
              <a:ea typeface="ＭＳ Ｐゴシック" pitchFamily="1" charset="-128"/>
              <a:cs typeface="+mn-cs"/>
            </a:endParaRPr>
          </a:p>
        </p:txBody>
      </p:sp>
      <p:sp>
        <p:nvSpPr>
          <p:cNvPr id="50181" name="Rectangle 2"/>
          <p:cNvSpPr>
            <a:spLocks noChangeArrowheads="1"/>
          </p:cNvSpPr>
          <p:nvPr/>
        </p:nvSpPr>
        <p:spPr bwMode="auto">
          <a:xfrm>
            <a:off x="354013" y="514350"/>
            <a:ext cx="828833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3200">
                <a:solidFill>
                  <a:schemeClr val="bg1"/>
                </a:solidFill>
              </a:rPr>
              <a:t>Thank You!</a:t>
            </a:r>
          </a:p>
        </p:txBody>
      </p:sp>
      <p:sp>
        <p:nvSpPr>
          <p:cNvPr id="50182" name="Rectangle 3"/>
          <p:cNvSpPr>
            <a:spLocks noChangeArrowheads="1"/>
          </p:cNvSpPr>
          <p:nvPr/>
        </p:nvSpPr>
        <p:spPr bwMode="auto">
          <a:xfrm>
            <a:off x="422275" y="1458913"/>
            <a:ext cx="8237538" cy="491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/>
            <a:endParaRPr lang="en-US" sz="6000"/>
          </a:p>
          <a:p>
            <a:pPr algn="ctr"/>
            <a:r>
              <a:rPr lang="en-US" sz="6000"/>
              <a:t>Questions?</a:t>
            </a:r>
            <a:br>
              <a:rPr lang="en-US" sz="6000"/>
            </a:b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775492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498F5E-8195-43C9-15B3-E804338919F7}"/>
              </a:ext>
            </a:extLst>
          </p:cNvPr>
          <p:cNvSpPr txBox="1"/>
          <p:nvPr/>
        </p:nvSpPr>
        <p:spPr>
          <a:xfrm>
            <a:off x="487680" y="341376"/>
            <a:ext cx="41392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/>
              <a:t>Image Sources: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FFA1B4-4FFF-6AD5-E165-7DD1140E3DB8}"/>
              </a:ext>
            </a:extLst>
          </p:cNvPr>
          <p:cNvSpPr txBox="1"/>
          <p:nvPr/>
        </p:nvSpPr>
        <p:spPr>
          <a:xfrm>
            <a:off x="0" y="1110817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/>
              <a:t>Images from ONNX </a:t>
            </a:r>
            <a:r>
              <a:rPr lang="en-US" sz="1800" err="1"/>
              <a:t>mainpage</a:t>
            </a:r>
            <a:r>
              <a:rPr lang="en-US" sz="1800"/>
              <a:t> found at </a:t>
            </a:r>
            <a:r>
              <a:rPr lang="en-US" sz="1800">
                <a:hlinkClick r:id="rId2"/>
              </a:rPr>
              <a:t>https://onnx.ai/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/>
              <a:t>Images from </a:t>
            </a:r>
            <a:r>
              <a:rPr lang="en-US" sz="1800" i="1"/>
              <a:t>“UTES Training Guide V6” PowerPoint created by Nathan Hansen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/>
              <a:t>Images from materials from the Sanchez Research Lab UTES Device Resources and Publications</a:t>
            </a:r>
          </a:p>
        </p:txBody>
      </p:sp>
    </p:spTree>
    <p:extLst>
      <p:ext uri="{BB962C8B-B14F-4D97-AF65-F5344CB8AC3E}">
        <p14:creationId xmlns:p14="http://schemas.microsoft.com/office/powerpoint/2010/main" val="311945315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stealth" w="lg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stealth" w="lg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273</Words>
  <Application>Microsoft Office PowerPoint</Application>
  <PresentationFormat>On-screen Show (4:3)</PresentationFormat>
  <Paragraphs>69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Aptos</vt:lpstr>
      <vt:lpstr>Arial</vt:lpstr>
      <vt:lpstr>Blank Presentation</vt:lpstr>
      <vt:lpstr>MILESTONE 2 UPDATE:  Integrating Machine Learning Into  UTAP App </vt:lpstr>
      <vt:lpstr>MILESTONE 1 UPDATE:  Integrating Machine Learning Into URSKIN App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cade lab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for your Cover</dc:title>
  <dc:subject/>
  <dc:creator>cade lab</dc:creator>
  <cp:keywords/>
  <dc:description/>
  <cp:lastModifiedBy>Hayden Walpole</cp:lastModifiedBy>
  <cp:revision>2</cp:revision>
  <dcterms:created xsi:type="dcterms:W3CDTF">2008-04-18T23:06:39Z</dcterms:created>
  <dcterms:modified xsi:type="dcterms:W3CDTF">2025-11-09T23:05:30Z</dcterms:modified>
  <cp:category/>
</cp:coreProperties>
</file>